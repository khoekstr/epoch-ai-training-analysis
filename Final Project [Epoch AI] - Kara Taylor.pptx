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5" r:id="rId1"/>
  </p:sldMasterIdLst>
  <p:notesMasterIdLst>
    <p:notesMasterId r:id="rId11"/>
  </p:notesMasterIdLst>
  <p:sldIdLst>
    <p:sldId id="257" r:id="rId2"/>
    <p:sldId id="259" r:id="rId3"/>
    <p:sldId id="261" r:id="rId4"/>
    <p:sldId id="264" r:id="rId5"/>
    <p:sldId id="266" r:id="rId6"/>
    <p:sldId id="265" r:id="rId7"/>
    <p:sldId id="258" r:id="rId8"/>
    <p:sldId id="267" r:id="rId9"/>
    <p:sldId id="268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E24FE2-AFB8-4E69-BCA4-38EC5A4CC85D}" v="272" dt="2026-10-15T12:39:02.8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69613" autoAdjust="0"/>
  </p:normalViewPr>
  <p:slideViewPr>
    <p:cSldViewPr snapToGrid="0">
      <p:cViewPr varScale="1">
        <p:scale>
          <a:sx n="77" d="100"/>
          <a:sy n="77" d="100"/>
        </p:scale>
        <p:origin x="264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a Taylor" userId="eb2e149321b328a8" providerId="LiveId" clId="{6E28AA40-8074-4B57-B55E-541024D2264A}"/>
    <pc:docChg chg="undo custSel addSld modSld sldOrd">
      <pc:chgData name="Kara Taylor" userId="eb2e149321b328a8" providerId="LiveId" clId="{6E28AA40-8074-4B57-B55E-541024D2264A}" dt="2026-10-15T13:13:35.982" v="1083" actId="20577"/>
      <pc:docMkLst>
        <pc:docMk/>
      </pc:docMkLst>
      <pc:sldChg chg="modNotesTx">
        <pc:chgData name="Kara Taylor" userId="eb2e149321b328a8" providerId="LiveId" clId="{6E28AA40-8074-4B57-B55E-541024D2264A}" dt="2026-10-15T01:23:56.498" v="950" actId="20577"/>
        <pc:sldMkLst>
          <pc:docMk/>
          <pc:sldMk cId="1589675705" sldId="257"/>
        </pc:sldMkLst>
      </pc:sldChg>
      <pc:sldChg chg="modSp mod modAnim">
        <pc:chgData name="Kara Taylor" userId="eb2e149321b328a8" providerId="LiveId" clId="{6E28AA40-8074-4B57-B55E-541024D2264A}" dt="2026-10-15T13:07:57.504" v="1060" actId="313"/>
        <pc:sldMkLst>
          <pc:docMk/>
          <pc:sldMk cId="1469914857" sldId="258"/>
        </pc:sldMkLst>
        <pc:spChg chg="mod">
          <ac:chgData name="Kara Taylor" userId="eb2e149321b328a8" providerId="LiveId" clId="{6E28AA40-8074-4B57-B55E-541024D2264A}" dt="2026-10-15T13:07:57.504" v="1060" actId="313"/>
          <ac:spMkLst>
            <pc:docMk/>
            <pc:sldMk cId="1469914857" sldId="258"/>
            <ac:spMk id="5" creationId="{8E46E54B-39F3-E272-36D6-B3F8B4FF9110}"/>
          </ac:spMkLst>
        </pc:spChg>
      </pc:sldChg>
      <pc:sldChg chg="addSp modSp mod">
        <pc:chgData name="Kara Taylor" userId="eb2e149321b328a8" providerId="LiveId" clId="{6E28AA40-8074-4B57-B55E-541024D2264A}" dt="2026-10-15T01:13:48.546" v="838" actId="1076"/>
        <pc:sldMkLst>
          <pc:docMk/>
          <pc:sldMk cId="57374657" sldId="259"/>
        </pc:sldMkLst>
        <pc:spChg chg="add mod">
          <ac:chgData name="Kara Taylor" userId="eb2e149321b328a8" providerId="LiveId" clId="{6E28AA40-8074-4B57-B55E-541024D2264A}" dt="2026-10-15T01:13:48.546" v="838" actId="1076"/>
          <ac:spMkLst>
            <pc:docMk/>
            <pc:sldMk cId="57374657" sldId="259"/>
            <ac:spMk id="7" creationId="{784155C6-38F9-2325-15F3-74B534EEFA51}"/>
          </ac:spMkLst>
        </pc:spChg>
        <pc:picChg chg="add mod">
          <ac:chgData name="Kara Taylor" userId="eb2e149321b328a8" providerId="LiveId" clId="{6E28AA40-8074-4B57-B55E-541024D2264A}" dt="2026-10-15T01:12:31.003" v="772" actId="1076"/>
          <ac:picMkLst>
            <pc:docMk/>
            <pc:sldMk cId="57374657" sldId="259"/>
            <ac:picMk id="3" creationId="{3C50F446-AFE6-2EB2-FA58-BAD164DD35B9}"/>
          </ac:picMkLst>
        </pc:picChg>
      </pc:sldChg>
      <pc:sldChg chg="modSp mod modNotesTx">
        <pc:chgData name="Kara Taylor" userId="eb2e149321b328a8" providerId="LiveId" clId="{6E28AA40-8074-4B57-B55E-541024D2264A}" dt="2026-10-15T12:40:52.606" v="1058" actId="1076"/>
        <pc:sldMkLst>
          <pc:docMk/>
          <pc:sldMk cId="2862484410" sldId="261"/>
        </pc:sldMkLst>
        <pc:spChg chg="mod">
          <ac:chgData name="Kara Taylor" userId="eb2e149321b328a8" providerId="LiveId" clId="{6E28AA40-8074-4B57-B55E-541024D2264A}" dt="2026-10-15T12:40:52.606" v="1058" actId="1076"/>
          <ac:spMkLst>
            <pc:docMk/>
            <pc:sldMk cId="2862484410" sldId="261"/>
            <ac:spMk id="3" creationId="{4629C1BC-F813-DD9D-52A2-6E6FF19E0103}"/>
          </ac:spMkLst>
        </pc:spChg>
        <pc:spChg chg="mod">
          <ac:chgData name="Kara Taylor" userId="eb2e149321b328a8" providerId="LiveId" clId="{6E28AA40-8074-4B57-B55E-541024D2264A}" dt="2026-10-15T12:40:30.133" v="1056" actId="1076"/>
          <ac:spMkLst>
            <pc:docMk/>
            <pc:sldMk cId="2862484410" sldId="261"/>
            <ac:spMk id="4" creationId="{C3404DC0-CE10-B356-703D-CE20DAD7B298}"/>
          </ac:spMkLst>
        </pc:spChg>
        <pc:spChg chg="mod">
          <ac:chgData name="Kara Taylor" userId="eb2e149321b328a8" providerId="LiveId" clId="{6E28AA40-8074-4B57-B55E-541024D2264A}" dt="2026-10-15T12:40:52.606" v="1058" actId="1076"/>
          <ac:spMkLst>
            <pc:docMk/>
            <pc:sldMk cId="2862484410" sldId="261"/>
            <ac:spMk id="8" creationId="{B6F71276-9637-6655-3A6D-FA35942CE48D}"/>
          </ac:spMkLst>
        </pc:spChg>
        <pc:spChg chg="mod">
          <ac:chgData name="Kara Taylor" userId="eb2e149321b328a8" providerId="LiveId" clId="{6E28AA40-8074-4B57-B55E-541024D2264A}" dt="2026-10-15T12:40:36.142" v="1057" actId="1076"/>
          <ac:spMkLst>
            <pc:docMk/>
            <pc:sldMk cId="2862484410" sldId="261"/>
            <ac:spMk id="11" creationId="{FE875C67-66B9-7292-7319-3DCE74E8621E}"/>
          </ac:spMkLst>
        </pc:spChg>
        <pc:spChg chg="mod">
          <ac:chgData name="Kara Taylor" userId="eb2e149321b328a8" providerId="LiveId" clId="{6E28AA40-8074-4B57-B55E-541024D2264A}" dt="2026-10-15T12:40:52.606" v="1058" actId="1076"/>
          <ac:spMkLst>
            <pc:docMk/>
            <pc:sldMk cId="2862484410" sldId="261"/>
            <ac:spMk id="12" creationId="{C56E8394-F0B8-512A-EF19-32F99A08BE73}"/>
          </ac:spMkLst>
        </pc:spChg>
        <pc:spChg chg="mod">
          <ac:chgData name="Kara Taylor" userId="eb2e149321b328a8" providerId="LiveId" clId="{6E28AA40-8074-4B57-B55E-541024D2264A}" dt="2026-10-15T12:40:52.606" v="1058" actId="1076"/>
          <ac:spMkLst>
            <pc:docMk/>
            <pc:sldMk cId="2862484410" sldId="261"/>
            <ac:spMk id="14" creationId="{5CEFC6B5-4686-9329-E6E5-9FFCC9426759}"/>
          </ac:spMkLst>
        </pc:spChg>
        <pc:picChg chg="mod">
          <ac:chgData name="Kara Taylor" userId="eb2e149321b328a8" providerId="LiveId" clId="{6E28AA40-8074-4B57-B55E-541024D2264A}" dt="2026-10-15T12:40:30.133" v="1056" actId="1076"/>
          <ac:picMkLst>
            <pc:docMk/>
            <pc:sldMk cId="2862484410" sldId="261"/>
            <ac:picMk id="10" creationId="{64041195-EDB0-47DE-E7F1-2F8FE49A8F7D}"/>
          </ac:picMkLst>
        </pc:picChg>
      </pc:sldChg>
      <pc:sldChg chg="add ord modNotesTx">
        <pc:chgData name="Kara Taylor" userId="eb2e149321b328a8" providerId="LiveId" clId="{6E28AA40-8074-4B57-B55E-541024D2264A}" dt="2026-10-15T01:29:59.214" v="1043" actId="20577"/>
        <pc:sldMkLst>
          <pc:docMk/>
          <pc:sldMk cId="3325557243" sldId="264"/>
        </pc:sldMkLst>
      </pc:sldChg>
      <pc:sldChg chg="delSp modSp add mod">
        <pc:chgData name="Kara Taylor" userId="eb2e149321b328a8" providerId="LiveId" clId="{6E28AA40-8074-4B57-B55E-541024D2264A}" dt="2026-10-15T01:23:04.131" v="949" actId="20577"/>
        <pc:sldMkLst>
          <pc:docMk/>
          <pc:sldMk cId="3261246580" sldId="265"/>
        </pc:sldMkLst>
        <pc:spChg chg="mod">
          <ac:chgData name="Kara Taylor" userId="eb2e149321b328a8" providerId="LiveId" clId="{6E28AA40-8074-4B57-B55E-541024D2264A}" dt="2026-10-15T01:23:04.131" v="949" actId="20577"/>
          <ac:spMkLst>
            <pc:docMk/>
            <pc:sldMk cId="3261246580" sldId="265"/>
            <ac:spMk id="10" creationId="{B7B0E208-D83C-FD03-E24D-A1BD6031ED6D}"/>
          </ac:spMkLst>
        </pc:spChg>
        <pc:spChg chg="del">
          <ac:chgData name="Kara Taylor" userId="eb2e149321b328a8" providerId="LiveId" clId="{6E28AA40-8074-4B57-B55E-541024D2264A}" dt="2026-10-15T01:09:36.901" v="740" actId="478"/>
          <ac:spMkLst>
            <pc:docMk/>
            <pc:sldMk cId="3261246580" sldId="265"/>
            <ac:spMk id="14" creationId="{9F36A1DF-5D1D-6D7C-E225-AC999DF180E8}"/>
          </ac:spMkLst>
        </pc:spChg>
        <pc:graphicFrameChg chg="modGraphic">
          <ac:chgData name="Kara Taylor" userId="eb2e149321b328a8" providerId="LiveId" clId="{6E28AA40-8074-4B57-B55E-541024D2264A}" dt="2026-10-15T01:02:26.816" v="176" actId="20577"/>
          <ac:graphicFrameMkLst>
            <pc:docMk/>
            <pc:sldMk cId="3261246580" sldId="265"/>
            <ac:graphicFrameMk id="6" creationId="{393A2395-63ED-112B-0866-403BC41C6EA1}"/>
          </ac:graphicFrameMkLst>
        </pc:graphicFrameChg>
        <pc:picChg chg="mod">
          <ac:chgData name="Kara Taylor" userId="eb2e149321b328a8" providerId="LiveId" clId="{6E28AA40-8074-4B57-B55E-541024D2264A}" dt="2026-10-15T01:10:05.026" v="744" actId="1076"/>
          <ac:picMkLst>
            <pc:docMk/>
            <pc:sldMk cId="3261246580" sldId="265"/>
            <ac:picMk id="7" creationId="{2EE5F7D0-3A0A-F9A2-A4E5-B03CEC1D6032}"/>
          </ac:picMkLst>
        </pc:picChg>
        <pc:picChg chg="del">
          <ac:chgData name="Kara Taylor" userId="eb2e149321b328a8" providerId="LiveId" clId="{6E28AA40-8074-4B57-B55E-541024D2264A}" dt="2026-10-15T01:09:37.460" v="741" actId="478"/>
          <ac:picMkLst>
            <pc:docMk/>
            <pc:sldMk cId="3261246580" sldId="265"/>
            <ac:picMk id="12" creationId="{8A7F8749-FFB8-1433-AC40-26BD9D72C528}"/>
          </ac:picMkLst>
        </pc:picChg>
      </pc:sldChg>
      <pc:sldChg chg="modSp add mod ord">
        <pc:chgData name="Kara Taylor" userId="eb2e149321b328a8" providerId="LiveId" clId="{6E28AA40-8074-4B57-B55E-541024D2264A}" dt="2026-10-15T12:57:07.700" v="1059" actId="313"/>
        <pc:sldMkLst>
          <pc:docMk/>
          <pc:sldMk cId="70680617" sldId="266"/>
        </pc:sldMkLst>
        <pc:spChg chg="mod">
          <ac:chgData name="Kara Taylor" userId="eb2e149321b328a8" providerId="LiveId" clId="{6E28AA40-8074-4B57-B55E-541024D2264A}" dt="2026-10-15T12:57:07.700" v="1059" actId="313"/>
          <ac:spMkLst>
            <pc:docMk/>
            <pc:sldMk cId="70680617" sldId="266"/>
            <ac:spMk id="14" creationId="{CFAFF0DA-301C-19F1-03A8-734BC8D7DA9F}"/>
          </ac:spMkLst>
        </pc:spChg>
      </pc:sldChg>
      <pc:sldChg chg="modSp mod">
        <pc:chgData name="Kara Taylor" userId="eb2e149321b328a8" providerId="LiveId" clId="{6E28AA40-8074-4B57-B55E-541024D2264A}" dt="2026-10-15T13:13:35.982" v="1083" actId="20577"/>
        <pc:sldMkLst>
          <pc:docMk/>
          <pc:sldMk cId="2460118039" sldId="268"/>
        </pc:sldMkLst>
        <pc:spChg chg="mod">
          <ac:chgData name="Kara Taylor" userId="eb2e149321b328a8" providerId="LiveId" clId="{6E28AA40-8074-4B57-B55E-541024D2264A}" dt="2026-10-15T13:13:35.982" v="1083" actId="20577"/>
          <ac:spMkLst>
            <pc:docMk/>
            <pc:sldMk cId="2460118039" sldId="268"/>
            <ac:spMk id="2" creationId="{DDF491F0-B5B6-AF51-A120-BFB7A831A2A6}"/>
          </ac:spMkLst>
        </pc:spChg>
        <pc:spChg chg="mod">
          <ac:chgData name="Kara Taylor" userId="eb2e149321b328a8" providerId="LiveId" clId="{6E28AA40-8074-4B57-B55E-541024D2264A}" dt="2026-10-15T01:09:04.976" v="739" actId="20577"/>
          <ac:spMkLst>
            <pc:docMk/>
            <pc:sldMk cId="2460118039" sldId="268"/>
            <ac:spMk id="6" creationId="{222CA222-3697-7C45-BA1F-5E0902A28D7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4765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Background: AI-generated abstract artwork, created for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b="1" dirty="0"/>
              <a:t>Most compute: GPT-6 Astra</a:t>
            </a:r>
            <a:r>
              <a:rPr lang="en-US" dirty="0"/>
              <a:t> (OpenAI), at about 1.0e27 FLOP (1 followed by 27 zeros or 1 octillion FLOPS)</a:t>
            </a:r>
          </a:p>
          <a:p>
            <a:r>
              <a:rPr lang="en-US" b="1" dirty="0"/>
              <a:t>Most Parameters: Grok 4</a:t>
            </a:r>
            <a:r>
              <a:rPr lang="en-US" dirty="0"/>
              <a:t> (</a:t>
            </a:r>
            <a:r>
              <a:rPr lang="en-US" dirty="0" err="1"/>
              <a:t>xAI</a:t>
            </a:r>
            <a:r>
              <a:rPr lang="en-US" dirty="0"/>
              <a:t>), at 3,000,000,000,000, or </a:t>
            </a:r>
            <a:r>
              <a:rPr lang="en-US" b="1" dirty="0"/>
              <a:t>3 trillion</a:t>
            </a:r>
            <a:r>
              <a:rPr lang="en-US" dirty="0"/>
              <a:t> parameters or 3e12.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3960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Since 2020, Meta has increased it’s compute on average 12 times per year.   Twice as fast as any other Category.</a:t>
            </a:r>
          </a:p>
          <a:p>
            <a:endParaRPr lang="en-US" dirty="0"/>
          </a:p>
          <a:p>
            <a:r>
              <a:rPr lang="en-US" dirty="0"/>
              <a:t>Industry has higher fitted compute and parameters every from 2020 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941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Number of organization in “Other” </a:t>
            </a:r>
            <a:r>
              <a:rPr lang="en-US" dirty="0" err="1"/>
              <a:t>xAI</a:t>
            </a:r>
            <a:r>
              <a:rPr lang="en-US" dirty="0"/>
              <a:t>, </a:t>
            </a:r>
            <a:r>
              <a:rPr lang="en-US" dirty="0" err="1"/>
              <a:t>Antropic</a:t>
            </a:r>
            <a:r>
              <a:rPr lang="en-US" dirty="0"/>
              <a:t>, Cursor on their own not enough data </a:t>
            </a:r>
          </a:p>
        </p:txBody>
      </p:sp>
    </p:spTree>
    <p:extLst>
      <p:ext uri="{BB962C8B-B14F-4D97-AF65-F5344CB8AC3E}">
        <p14:creationId xmlns:p14="http://schemas.microsoft.com/office/powerpoint/2010/main" val="3789331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Organizations</a:t>
            </a:r>
          </a:p>
          <a:p>
            <a:r>
              <a:rPr lang="en-US" dirty="0"/>
              <a:t>Meta AI</a:t>
            </a:r>
          </a:p>
          <a:p>
            <a:r>
              <a:rPr lang="en-US" dirty="0"/>
              <a:t>Google</a:t>
            </a:r>
          </a:p>
          <a:p>
            <a:r>
              <a:rPr lang="en-US" dirty="0"/>
              <a:t>Alibaba</a:t>
            </a:r>
          </a:p>
          <a:p>
            <a:r>
              <a:rPr lang="en-US" dirty="0"/>
              <a:t>Open AI</a:t>
            </a:r>
          </a:p>
          <a:p>
            <a:r>
              <a:rPr lang="en-US" dirty="0"/>
              <a:t>Other</a:t>
            </a:r>
          </a:p>
          <a:p>
            <a:endParaRPr lang="en-US" dirty="0"/>
          </a:p>
          <a:p>
            <a:r>
              <a:rPr lang="en-US" dirty="0"/>
              <a:t>Category</a:t>
            </a:r>
          </a:p>
          <a:p>
            <a:r>
              <a:rPr lang="en-US" dirty="0"/>
              <a:t>Academia</a:t>
            </a:r>
          </a:p>
          <a:p>
            <a:r>
              <a:rPr lang="en-US" dirty="0"/>
              <a:t>Industry</a:t>
            </a:r>
          </a:p>
          <a:p>
            <a:r>
              <a:rPr lang="en-US" dirty="0"/>
              <a:t>Collaboration / Other</a:t>
            </a:r>
          </a:p>
          <a:p>
            <a:endParaRPr lang="en-US" dirty="0"/>
          </a:p>
          <a:p>
            <a:r>
              <a:rPr lang="en-US" dirty="0"/>
              <a:t>Country</a:t>
            </a:r>
          </a:p>
          <a:p>
            <a:r>
              <a:rPr lang="en-US" dirty="0"/>
              <a:t>China</a:t>
            </a:r>
          </a:p>
          <a:p>
            <a:r>
              <a:rPr lang="en-US" dirty="0"/>
              <a:t>US</a:t>
            </a:r>
          </a:p>
          <a:p>
            <a:r>
              <a:rPr lang="en-US" dirty="0"/>
              <a:t>US + China</a:t>
            </a:r>
          </a:p>
          <a:p>
            <a:r>
              <a:rPr lang="en-US"/>
              <a:t>Other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928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2051D-4A07-1A8F-3C7D-D6B83BE2FF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52D96B-3422-69B1-CBA4-7209EF73EB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00408-8041-F1D2-4A0F-4C57B58A7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D7AAC-83F0-43D5-BB09-CE95FE11ACC5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B9BA0-9CB2-806B-4617-C3661F60E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732A0-F482-D137-DE41-1E62D1E9E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765F-D05F-4349-AFD2-53B0365FF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459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C6AF3-670F-1316-467F-89CC1FD3E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C6414-5896-03D7-9319-05B3810BE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8E683-7CEB-808E-216E-8E9B188A4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D7AAC-83F0-43D5-BB09-CE95FE11ACC5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4ADEC-7616-9AE3-404E-0FB4FC58D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3D48A-1C1E-58F5-F76B-0589112B3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765F-D05F-4349-AFD2-53B0365FF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153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1D153-BD44-62BC-1847-D65359E8E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65CAEF-7E74-5E55-725B-276787929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BBF51-BABB-58C2-1839-4DD27E646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D7AAC-83F0-43D5-BB09-CE95FE11ACC5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6154C-2F38-0B8D-CA7A-20D2ACCF5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7C70F-8518-EF7D-D63E-9FAC0D632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765F-D05F-4349-AFD2-53B0365FF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78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9B75E-EC21-2232-342D-7503AA211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4E6AF-3C53-3BFC-FCEF-786BBA2FE8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7CD320-5C00-1E29-CF9D-4FE6195D3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3E8E1E-92BE-009B-E2E3-1DC660CF7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D7AAC-83F0-43D5-BB09-CE95FE11ACC5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D7967C-AC59-5BCC-DEF6-CFDC92AB1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C3ADF7-92C1-D60B-20C4-06AD1E3C3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765F-D05F-4349-AFD2-53B0365FF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889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6F261-DDF8-D212-884A-521D8F206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458E65-673A-55EB-497E-2FC58B36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C85D2F-5D5B-C6C0-66EF-807700004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DB7CD6-EDD4-C0CD-1B30-58538C2FFE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364741-828C-CC42-8E3B-F941F4470A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AE498C-AB93-3586-A4FF-7931A3901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D7AAC-83F0-43D5-BB09-CE95FE11ACC5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61B499-7B08-9C04-F7C2-DE275D9A6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C69AFA-9CD7-C7D5-98D4-7BBBFC8F1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765F-D05F-4349-AFD2-53B0365FF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973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619EB-86BB-128E-B18D-C8E6D066D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6F6A4D-C1E7-F6C9-74A1-C47D20C6A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D7AAC-83F0-43D5-BB09-CE95FE11ACC5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D14ACB-5A42-FE01-0996-CD87496AB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3337BC-3058-1BF2-689D-B443F2A10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765F-D05F-4349-AFD2-53B0365FF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286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19546F-447A-067B-35BB-94D3EEB69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D7AAC-83F0-43D5-BB09-CE95FE11ACC5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F2E7AC-A743-F3D3-4383-5067B77A8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6547DF-ACF1-D12E-A7D7-BA312B45F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765F-D05F-4349-AFD2-53B0365FF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957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CB43B-7816-9C11-9000-D60B2AE69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47F01-3FA9-B343-0C1F-4B9C8699C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098C07-EF12-D9FB-5E09-FC698A8331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560D4B-3348-72D6-5476-EA3DDC64D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D7AAC-83F0-43D5-BB09-CE95FE11ACC5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C67788-FB3E-AEEE-5456-BC37907A4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B7C92E-B375-1BFC-E73B-3A0A5DBB6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765F-D05F-4349-AFD2-53B0365FF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515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BB99B-D301-44AD-E3E2-7F6BD463B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F706C5-0278-1F3A-C3EA-E2E9284A795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2F7EBC-7726-3509-B0FA-B3F6EF429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A50C8C-EBDF-CC21-8E34-CD86A96D9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D7AAC-83F0-43D5-BB09-CE95FE11ACC5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E259BD-2FC9-D25C-C179-D833D0B9A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115860-73FA-C23A-02E7-856B8059D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765F-D05F-4349-AFD2-53B0365FF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465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20963-C079-D680-02B9-28D93EF4D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5B7F16-A981-CB99-FEDE-445D498D64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E0BD0-79A9-57CD-5110-6430EA328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D7AAC-83F0-43D5-BB09-CE95FE11ACC5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96B2F-4452-C9CF-6E6D-00598626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F9C75-F533-5CDC-C532-9F238B49D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765F-D05F-4349-AFD2-53B0365FF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33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641E27-3CFB-AA85-C69A-A7C09F4926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C9DD68-22C6-746D-7CF7-9668ECD0E6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DB1AC-CB4A-F9F5-E777-1453AD620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D7AAC-83F0-43D5-BB09-CE95FE11ACC5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43C58-5195-C06F-D9D2-754D3E137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BFF93-01A8-02BB-2AEA-E1474D550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765F-D05F-4349-AFD2-53B0365FF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3675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8680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DBC01A-0285-7E1E-E7CC-55F1DAE89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D0A2F-A57A-71BD-3EB0-7DD88BCA1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90FF4-B7D8-F9FB-6AC7-594E938A70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1D7AAC-83F0-43D5-BB09-CE95FE11ACC5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C2FD3-CFE5-3BCE-5031-2FCFEC5D39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AF43E-05E1-0BB1-5E2B-D15FA2C902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16765F-D05F-4349-AFD2-53B0365FF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733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6" r:id="rId1"/>
    <p:sldLayoutId id="2147483947" r:id="rId2"/>
    <p:sldLayoutId id="2147483948" r:id="rId3"/>
    <p:sldLayoutId id="2147483949" r:id="rId4"/>
    <p:sldLayoutId id="2147483950" r:id="rId5"/>
    <p:sldLayoutId id="2147483951" r:id="rId6"/>
    <p:sldLayoutId id="2147483952" r:id="rId7"/>
    <p:sldLayoutId id="2147483953" r:id="rId8"/>
    <p:sldLayoutId id="2147483954" r:id="rId9"/>
    <p:sldLayoutId id="2147483955" r:id="rId10"/>
    <p:sldLayoutId id="2147483956" r:id="rId11"/>
    <p:sldLayoutId id="2147483957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 l="12500" r="12500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0C7246EC-04ED-4E13-9283-20332BA59CF9}"/>
              </a:ext>
            </a:extLst>
          </p:cNvPr>
          <p:cNvSpPr>
            <a:spLocks noGrp="1"/>
          </p:cNvSpPr>
          <p:nvPr/>
        </p:nvSpPr>
        <p:spPr>
          <a:xfrm>
            <a:off x="514350" y="2178844"/>
            <a:ext cx="6286500" cy="14573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49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Variability in</a:t>
            </a:r>
          </a:p>
          <a:p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49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 Training Inputs</a:t>
            </a:r>
          </a:p>
          <a:p>
            <a:pPr>
              <a:defRPr sz="4612" b="1">
                <a:solidFill>
                  <a:srgbClr val="F5F9FC"/>
                </a:solidFill>
                <a:latin typeface="Arial"/>
                <a:ea typeface="Arial"/>
                <a:cs typeface="Arial"/>
              </a:defRPr>
            </a:pPr>
            <a:endParaRPr lang="en-US" sz="4612" b="1" dirty="0">
              <a:solidFill>
                <a:srgbClr val="F5F9F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D744001-19F5-4B59-BB56-7B81EA600123}"/>
              </a:ext>
            </a:extLst>
          </p:cNvPr>
          <p:cNvSpPr>
            <a:spLocks noGrp="1"/>
          </p:cNvSpPr>
          <p:nvPr/>
        </p:nvSpPr>
        <p:spPr>
          <a:xfrm>
            <a:off x="557212" y="3857625"/>
            <a:ext cx="6215062" cy="385762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88" b="0">
                <a:solidFill>
                  <a:srgbClr val="D9E5DF"/>
                </a:solidFill>
                <a:latin typeface="Arial"/>
                <a:ea typeface="Arial"/>
                <a:cs typeface="Arial"/>
              </a:defRPr>
            </a:pPr>
            <a:r>
              <a:rPr lang="en-US" sz="1688">
                <a:solidFill>
                  <a:srgbClr val="D9E5DF"/>
                </a:solidFill>
                <a:latin typeface="Arial"/>
                <a:ea typeface="Arial"/>
                <a:cs typeface="Arial"/>
              </a:rPr>
              <a:t>Assessing the increase in compute and parameters over time</a:t>
            </a:r>
          </a:p>
        </p:txBody>
      </p:sp>
      <p:sp>
        <p:nvSpPr>
          <p:cNvPr id="4" name="presenter">
            <a:extLst>
              <a:ext uri="{FF2B5EF4-FFF2-40B4-BE49-F238E27FC236}">
                <a16:creationId xmlns:a16="http://schemas.microsoft.com/office/drawing/2014/main" id="{F66D5B2C-01F7-46A2-882E-540CAE06B840}"/>
              </a:ext>
            </a:extLst>
          </p:cNvPr>
          <p:cNvSpPr>
            <a:spLocks noGrp="1"/>
          </p:cNvSpPr>
          <p:nvPr/>
        </p:nvSpPr>
        <p:spPr>
          <a:xfrm>
            <a:off x="557212" y="4775200"/>
            <a:ext cx="6072188" cy="681038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38" b="0">
                <a:solidFill>
                  <a:srgbClr val="D9E5DF"/>
                </a:solidFill>
                <a:latin typeface="Arial"/>
                <a:ea typeface="Arial"/>
                <a:cs typeface="Arial"/>
              </a:defRPr>
            </a:pPr>
            <a:r>
              <a:rPr lang="en-US" sz="1200" dirty="0">
                <a:solidFill>
                  <a:srgbClr val="D9E5DF"/>
                </a:solidFill>
                <a:latin typeface="Arial"/>
                <a:ea typeface="Arial"/>
                <a:cs typeface="Arial"/>
              </a:rPr>
              <a:t>Kara Taylor</a:t>
            </a:r>
          </a:p>
          <a:p>
            <a:pPr>
              <a:defRPr sz="1238" b="0">
                <a:solidFill>
                  <a:srgbClr val="D9E5DF"/>
                </a:solidFill>
                <a:latin typeface="Arial"/>
                <a:ea typeface="Arial"/>
                <a:cs typeface="Arial"/>
              </a:defRPr>
            </a:pPr>
            <a:r>
              <a:rPr lang="en-US" sz="1200" dirty="0">
                <a:solidFill>
                  <a:srgbClr val="D9E5DF"/>
                </a:solidFill>
                <a:latin typeface="Arial"/>
                <a:ea typeface="Arial"/>
                <a:cs typeface="Arial"/>
              </a:rPr>
              <a:t>Descriptive Analysis Final Project</a:t>
            </a:r>
          </a:p>
          <a:p>
            <a:pPr>
              <a:defRPr sz="1238" b="0">
                <a:solidFill>
                  <a:srgbClr val="D9E5DF"/>
                </a:solidFill>
                <a:latin typeface="Arial"/>
                <a:ea typeface="Arial"/>
                <a:cs typeface="Arial"/>
              </a:defRPr>
            </a:pPr>
            <a:r>
              <a:rPr lang="en-US" sz="1200" dirty="0">
                <a:solidFill>
                  <a:srgbClr val="D9E5DF"/>
                </a:solidFill>
                <a:latin typeface="Arial"/>
                <a:ea typeface="Arial"/>
                <a:cs typeface="Arial"/>
              </a:rPr>
              <a:t>Data as of: October 1, 2026</a:t>
            </a:r>
          </a:p>
          <a:p>
            <a: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lang="en-US" sz="12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89675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B59D0-8800-39D4-B2C2-9610FEE27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92DEA04-557A-CCAB-624D-DFFCFBA3E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143561"/>
            <a:ext cx="8094245" cy="1325563"/>
          </a:xfrm>
        </p:spPr>
        <p:txBody>
          <a:bodyPr/>
          <a:lstStyle/>
          <a:p>
            <a:r>
              <a:rPr lang="en-US" dirty="0"/>
              <a:t>Fact: </a:t>
            </a:r>
            <a:br>
              <a:rPr lang="en-US" dirty="0"/>
            </a:br>
            <a:r>
              <a:rPr lang="en-US" sz="2000" dirty="0"/>
              <a:t>AI training inputs such as compute and parameters have increased overtime.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AB3B46-C0BB-2614-5774-98AC67DCD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69124"/>
            <a:ext cx="9144000" cy="51339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C50F446-AFE6-2EB2-FA58-BAD164DD35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373" y="2407879"/>
            <a:ext cx="4047123" cy="1152063"/>
          </a:xfrm>
          <a:prstGeom prst="ellipse">
            <a:avLst/>
          </a:prstGeom>
          <a:ln w="25400" cap="rnd">
            <a:solidFill>
              <a:schemeClr val="tx2">
                <a:lumMod val="90000"/>
                <a:lumOff val="10000"/>
              </a:schemeClr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4155C6-38F9-2325-15F3-74B534EEFA51}"/>
              </a:ext>
            </a:extLst>
          </p:cNvPr>
          <p:cNvSpPr txBox="1"/>
          <p:nvPr/>
        </p:nvSpPr>
        <p:spPr>
          <a:xfrm>
            <a:off x="1356373" y="2575190"/>
            <a:ext cx="3886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Each step represents a tenfold increase</a:t>
            </a:r>
          </a:p>
        </p:txBody>
      </p:sp>
    </p:spTree>
    <p:extLst>
      <p:ext uri="{BB962C8B-B14F-4D97-AF65-F5344CB8AC3E}">
        <p14:creationId xmlns:p14="http://schemas.microsoft.com/office/powerpoint/2010/main" val="57374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9C1BC-F813-DD9D-52A2-6E6FF19E01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36694" y="1469124"/>
            <a:ext cx="3886200" cy="4351338"/>
          </a:xfrm>
        </p:spPr>
        <p:txBody>
          <a:bodyPr/>
          <a:lstStyle/>
          <a:p>
            <a:pPr marL="0" indent="0">
              <a:buNone/>
            </a:pPr>
            <a:r>
              <a:rPr lang="en-US" u="sng" dirty="0"/>
              <a:t>Categories of Interest</a:t>
            </a:r>
          </a:p>
          <a:p>
            <a:r>
              <a:rPr lang="en-US" dirty="0"/>
              <a:t>Organization</a:t>
            </a:r>
          </a:p>
          <a:p>
            <a:pPr lvl="1"/>
            <a:r>
              <a:rPr lang="en-US" dirty="0"/>
              <a:t>Which company is growing fastest?</a:t>
            </a:r>
          </a:p>
          <a:p>
            <a:r>
              <a:rPr lang="en-US" dirty="0"/>
              <a:t>Organization Category</a:t>
            </a:r>
          </a:p>
          <a:p>
            <a:pPr lvl="1"/>
            <a:r>
              <a:rPr lang="en-US" dirty="0"/>
              <a:t>Does Industry have higher measure than Academia?</a:t>
            </a:r>
          </a:p>
          <a:p>
            <a:r>
              <a:rPr lang="en-US" dirty="0"/>
              <a:t>Country of Organization</a:t>
            </a:r>
          </a:p>
          <a:p>
            <a:pPr lvl="1"/>
            <a:r>
              <a:rPr lang="en-US" dirty="0"/>
              <a:t>Is China keeping pace with the US?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404DC0-CE10-B356-703D-CE20DAD7B2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800" y="1453740"/>
            <a:ext cx="3886200" cy="4351338"/>
          </a:xfrm>
        </p:spPr>
        <p:txBody>
          <a:bodyPr/>
          <a:lstStyle/>
          <a:p>
            <a:pPr marL="0" indent="0">
              <a:buNone/>
            </a:pPr>
            <a:r>
              <a:rPr lang="en-US" u="sng" dirty="0"/>
              <a:t>Data Measures</a:t>
            </a:r>
          </a:p>
          <a:p>
            <a:r>
              <a:rPr lang="en-US" dirty="0"/>
              <a:t>Training Compute: </a:t>
            </a:r>
          </a:p>
          <a:p>
            <a:pPr lvl="1"/>
            <a:r>
              <a:rPr lang="en-US" dirty="0"/>
              <a:t>Total calculations used to train</a:t>
            </a:r>
          </a:p>
          <a:p>
            <a:pPr lvl="1"/>
            <a:r>
              <a:rPr lang="en-US" dirty="0"/>
              <a:t>Measured as a count of floating-point operations (FLOP)</a:t>
            </a:r>
          </a:p>
          <a:p>
            <a:r>
              <a:rPr lang="en-US" dirty="0"/>
              <a:t>Parameters:</a:t>
            </a:r>
          </a:p>
          <a:p>
            <a:pPr lvl="1"/>
            <a:r>
              <a:rPr lang="en-US" dirty="0"/>
              <a:t>Number of adjustable values learned during training</a:t>
            </a:r>
          </a:p>
          <a:p>
            <a:pPr lvl="1"/>
            <a:r>
              <a:rPr lang="en-US" dirty="0"/>
              <a:t>Indicator of model size</a:t>
            </a:r>
          </a:p>
          <a:p>
            <a:pPr lvl="1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F5FB781-9714-F047-DF81-D7ADAC93E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143561"/>
            <a:ext cx="8094245" cy="1325563"/>
          </a:xfrm>
        </p:spPr>
        <p:txBody>
          <a:bodyPr/>
          <a:lstStyle/>
          <a:p>
            <a:r>
              <a:rPr lang="en-US" dirty="0"/>
              <a:t>Question: </a:t>
            </a:r>
            <a:br>
              <a:rPr lang="en-US" dirty="0"/>
            </a:br>
            <a:r>
              <a:rPr lang="en-US" sz="2000" dirty="0"/>
              <a:t>Does the timing and rate of increase differ by category?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28650C-BF91-684E-F726-D969C22C49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500" t="92973" r="12500"/>
          <a:stretch>
            <a:fillRect/>
          </a:stretch>
        </p:blipFill>
        <p:spPr>
          <a:xfrm>
            <a:off x="0" y="6376086"/>
            <a:ext cx="9144000" cy="4819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041195-EDB0-47DE-E7F1-2F8FE49A8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421" y="4555576"/>
            <a:ext cx="4047123" cy="1152063"/>
          </a:xfrm>
          <a:prstGeom prst="ellipse">
            <a:avLst/>
          </a:prstGeom>
          <a:ln w="25400" cap="rnd">
            <a:solidFill>
              <a:schemeClr val="tx2">
                <a:lumMod val="90000"/>
                <a:lumOff val="10000"/>
              </a:schemeClr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E875C67-66B9-7292-7319-3DCE74E8621E}"/>
              </a:ext>
            </a:extLst>
          </p:cNvPr>
          <p:cNvSpPr txBox="1"/>
          <p:nvPr/>
        </p:nvSpPr>
        <p:spPr>
          <a:xfrm>
            <a:off x="995776" y="4740263"/>
            <a:ext cx="3886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Both measure training inputs, performance is a separate question.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D7E4D8-C9F8-BAD3-1AAC-791ABB4C6D1D}"/>
              </a:ext>
            </a:extLst>
          </p:cNvPr>
          <p:cNvSpPr txBox="1"/>
          <p:nvPr/>
        </p:nvSpPr>
        <p:spPr>
          <a:xfrm>
            <a:off x="6463272" y="806342"/>
            <a:ext cx="928468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Yes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F71276-9637-6655-3A6D-FA35942CE48D}"/>
              </a:ext>
            </a:extLst>
          </p:cNvPr>
          <p:cNvSpPr txBox="1"/>
          <p:nvPr/>
        </p:nvSpPr>
        <p:spPr>
          <a:xfrm>
            <a:off x="6779793" y="2472459"/>
            <a:ext cx="1043647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Meta AI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6E8394-F0B8-512A-EF19-32F99A08BE73}"/>
              </a:ext>
            </a:extLst>
          </p:cNvPr>
          <p:cNvSpPr txBox="1"/>
          <p:nvPr/>
        </p:nvSpPr>
        <p:spPr>
          <a:xfrm>
            <a:off x="7989683" y="3381438"/>
            <a:ext cx="1065933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Industry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EFC6B5-4686-9329-E6E5-9FFCC9426759}"/>
              </a:ext>
            </a:extLst>
          </p:cNvPr>
          <p:cNvSpPr txBox="1"/>
          <p:nvPr/>
        </p:nvSpPr>
        <p:spPr>
          <a:xfrm>
            <a:off x="5965196" y="4386294"/>
            <a:ext cx="1629194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Indeterminant</a:t>
            </a:r>
          </a:p>
        </p:txBody>
      </p:sp>
    </p:spTree>
    <p:extLst>
      <p:ext uri="{BB962C8B-B14F-4D97-AF65-F5344CB8AC3E}">
        <p14:creationId xmlns:p14="http://schemas.microsoft.com/office/powerpoint/2010/main" val="2862484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12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A9621-217E-3087-E21B-78CFE954C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4">
            <a:extLst>
              <a:ext uri="{FF2B5EF4-FFF2-40B4-BE49-F238E27FC236}">
                <a16:creationId xmlns:a16="http://schemas.microsoft.com/office/drawing/2014/main" id="{B9DEE468-D5B1-253F-4BD3-9CD5D674E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143561"/>
            <a:ext cx="8094245" cy="1325563"/>
          </a:xfrm>
        </p:spPr>
        <p:txBody>
          <a:bodyPr/>
          <a:lstStyle/>
          <a:p>
            <a:r>
              <a:rPr lang="en-US" dirty="0"/>
              <a:t>Insight: Meta’s rate of increase stood out</a:t>
            </a:r>
            <a:endParaRPr lang="en-US" sz="20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B52E382-8E09-462E-1D92-4BC93B20F859}"/>
              </a:ext>
            </a:extLst>
          </p:cNvPr>
          <p:cNvGraphicFramePr/>
          <p:nvPr/>
        </p:nvGraphicFramePr>
        <p:xfrm>
          <a:off x="990599" y="4538828"/>
          <a:ext cx="7162800" cy="1401510"/>
        </p:xfrm>
        <a:graphic>
          <a:graphicData uri="http://schemas.openxmlformats.org/drawingml/2006/table">
            <a:tbl>
              <a:tblPr/>
              <a:tblGrid>
                <a:gridCol w="208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232804622"/>
                    </a:ext>
                  </a:extLst>
                </a:gridCol>
              </a:tblGrid>
              <a:tr h="32458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75" b="1" dirty="0">
                          <a:solidFill>
                            <a:srgbClr val="264D6B"/>
                          </a:solidFill>
                          <a:latin typeface="Arial"/>
                          <a:ea typeface="Arial"/>
                          <a:cs typeface="Arial"/>
                        </a:rPr>
                        <a:t>Available Data</a:t>
                      </a:r>
                    </a:p>
                  </a:txBody>
                  <a:tcPr>
                    <a:solidFill>
                      <a:srgbClr val="E6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75" b="1" dirty="0">
                          <a:solidFill>
                            <a:srgbClr val="264D6B"/>
                          </a:solidFill>
                          <a:latin typeface="Arial"/>
                          <a:ea typeface="Arial"/>
                          <a:cs typeface="Arial"/>
                        </a:rPr>
                        <a:t>Compute</a:t>
                      </a:r>
                      <a:endParaRPr sz="1875" b="1" dirty="0">
                        <a:solidFill>
                          <a:srgbClr val="264D6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solidFill>
                      <a:srgbClr val="E6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75" b="1" dirty="0">
                          <a:solidFill>
                            <a:srgbClr val="264D6B"/>
                          </a:solidFill>
                          <a:latin typeface="Arial"/>
                          <a:ea typeface="Arial"/>
                          <a:cs typeface="Arial"/>
                        </a:rPr>
                        <a:t>Parameters</a:t>
                      </a:r>
                      <a:endParaRPr sz="1875" b="1" dirty="0">
                        <a:solidFill>
                          <a:srgbClr val="264D6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solidFill>
                      <a:srgbClr val="E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58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75" b="0" dirty="0">
                          <a:solidFill>
                            <a:srgbClr val="26323B"/>
                          </a:solidFill>
                          <a:latin typeface="Arial"/>
                          <a:ea typeface="Arial"/>
                          <a:cs typeface="Arial"/>
                        </a:rPr>
                        <a:t>Meta</a:t>
                      </a:r>
                      <a:endParaRPr sz="1875" b="0" dirty="0">
                        <a:solidFill>
                          <a:srgbClr val="26323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875" b="0" kern="1200" dirty="0">
                          <a:solidFill>
                            <a:srgbClr val="26323B"/>
                          </a:solidFill>
                          <a:latin typeface="Arial"/>
                          <a:ea typeface="+mn-ea"/>
                          <a:cs typeface="Arial"/>
                        </a:rPr>
                        <a:t>28 of 42 (67%)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875" b="0" kern="1200" dirty="0">
                          <a:solidFill>
                            <a:srgbClr val="26323B"/>
                          </a:solidFill>
                          <a:latin typeface="Arial"/>
                          <a:cs typeface="Arial"/>
                        </a:rPr>
                        <a:t> 32 of 42 (76%)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58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75" b="0" dirty="0">
                          <a:solidFill>
                            <a:srgbClr val="26323B"/>
                          </a:solidFill>
                          <a:latin typeface="Arial"/>
                          <a:ea typeface="Arial"/>
                          <a:cs typeface="Arial"/>
                        </a:rPr>
                        <a:t>Open AI</a:t>
                      </a:r>
                      <a:endParaRPr sz="1875" b="0" dirty="0">
                        <a:solidFill>
                          <a:srgbClr val="26323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875" b="0" kern="1200" dirty="0">
                          <a:solidFill>
                            <a:srgbClr val="26323B"/>
                          </a:solidFill>
                          <a:latin typeface="Arial"/>
                          <a:ea typeface="+mn-ea"/>
                          <a:cs typeface="Arial"/>
                        </a:rPr>
                        <a:t>17 of 71 (24%)</a:t>
                      </a:r>
                    </a:p>
                  </a:txBody>
                  <a:tcPr marL="9525" marR="9525" marT="9525" marB="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875" b="0" kern="1200" dirty="0">
                          <a:solidFill>
                            <a:srgbClr val="26323B"/>
                          </a:solidFill>
                          <a:latin typeface="Arial"/>
                          <a:cs typeface="Arial"/>
                        </a:rPr>
                        <a:t>18 of 71 (25%)</a:t>
                      </a:r>
                    </a:p>
                  </a:txBody>
                  <a:tcPr marL="9525" marR="9525" marT="9525" marB="0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863DDEF0-A98F-8D2C-36A3-8A9859DF61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500" t="92973" r="12500"/>
          <a:stretch>
            <a:fillRect/>
          </a:stretch>
        </p:blipFill>
        <p:spPr>
          <a:xfrm>
            <a:off x="0" y="6376086"/>
            <a:ext cx="9144000" cy="48191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150792B-243A-FDCD-9069-80109AE2D8CE}"/>
              </a:ext>
            </a:extLst>
          </p:cNvPr>
          <p:cNvSpPr txBox="1"/>
          <p:nvPr/>
        </p:nvSpPr>
        <p:spPr>
          <a:xfrm>
            <a:off x="0" y="6432377"/>
            <a:ext cx="8997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Low data availability limits confidence in how representative Open AI’s growth 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A3A82D-7245-3AE6-840C-87231C013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051" y="1164251"/>
            <a:ext cx="8997949" cy="3192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557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CBEFB-BF5B-AB7A-C160-F89F8E976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4">
            <a:extLst>
              <a:ext uri="{FF2B5EF4-FFF2-40B4-BE49-F238E27FC236}">
                <a16:creationId xmlns:a16="http://schemas.microsoft.com/office/drawing/2014/main" id="{CF82652A-2B01-F5F8-4F1C-85FB9B245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143561"/>
            <a:ext cx="8094245" cy="1325563"/>
          </a:xfrm>
        </p:spPr>
        <p:txBody>
          <a:bodyPr/>
          <a:lstStyle/>
          <a:p>
            <a:r>
              <a:rPr lang="en-US" dirty="0"/>
              <a:t>Insight: Industry input levels above Academia</a:t>
            </a:r>
            <a:endParaRPr lang="en-US" sz="2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785E8E-8A27-5110-A88F-BEFD924951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00" t="92973" r="12500"/>
          <a:stretch>
            <a:fillRect/>
          </a:stretch>
        </p:blipFill>
        <p:spPr>
          <a:xfrm>
            <a:off x="0" y="6376086"/>
            <a:ext cx="9144000" cy="48191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FAFF0DA-301C-19F1-03A8-734BC8D7DA9F}"/>
              </a:ext>
            </a:extLst>
          </p:cNvPr>
          <p:cNvSpPr txBox="1"/>
          <p:nvPr/>
        </p:nvSpPr>
        <p:spPr>
          <a:xfrm>
            <a:off x="0" y="6432377"/>
            <a:ext cx="8997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Academia has slightly higher availability; growth rate were broadly similar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88A03B0-3C6C-3F93-A5B9-ABF7DD79F896}"/>
              </a:ext>
            </a:extLst>
          </p:cNvPr>
          <p:cNvGraphicFramePr/>
          <p:nvPr/>
        </p:nvGraphicFramePr>
        <p:xfrm>
          <a:off x="990599" y="4538828"/>
          <a:ext cx="7162800" cy="1401510"/>
        </p:xfrm>
        <a:graphic>
          <a:graphicData uri="http://schemas.openxmlformats.org/drawingml/2006/table">
            <a:tbl>
              <a:tblPr/>
              <a:tblGrid>
                <a:gridCol w="208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232804622"/>
                    </a:ext>
                  </a:extLst>
                </a:gridCol>
              </a:tblGrid>
              <a:tr h="32458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75" b="1" dirty="0">
                          <a:solidFill>
                            <a:srgbClr val="264D6B"/>
                          </a:solidFill>
                          <a:latin typeface="Arial"/>
                          <a:ea typeface="Arial"/>
                          <a:cs typeface="Arial"/>
                        </a:rPr>
                        <a:t>Available Data</a:t>
                      </a:r>
                    </a:p>
                  </a:txBody>
                  <a:tcPr>
                    <a:solidFill>
                      <a:srgbClr val="E6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75" b="1" dirty="0">
                          <a:solidFill>
                            <a:srgbClr val="264D6B"/>
                          </a:solidFill>
                          <a:latin typeface="Arial"/>
                          <a:ea typeface="Arial"/>
                          <a:cs typeface="Arial"/>
                        </a:rPr>
                        <a:t>Compute</a:t>
                      </a:r>
                      <a:endParaRPr sz="1875" b="1" dirty="0">
                        <a:solidFill>
                          <a:srgbClr val="264D6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solidFill>
                      <a:srgbClr val="E6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75" b="1" dirty="0">
                          <a:solidFill>
                            <a:srgbClr val="264D6B"/>
                          </a:solidFill>
                          <a:latin typeface="Arial"/>
                          <a:ea typeface="Arial"/>
                          <a:cs typeface="Arial"/>
                        </a:rPr>
                        <a:t>Parameters</a:t>
                      </a:r>
                      <a:endParaRPr sz="1875" b="1" dirty="0">
                        <a:solidFill>
                          <a:srgbClr val="264D6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solidFill>
                      <a:srgbClr val="E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58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75" b="0" dirty="0">
                          <a:solidFill>
                            <a:srgbClr val="26323B"/>
                          </a:solidFill>
                          <a:latin typeface="Arial"/>
                          <a:ea typeface="Arial"/>
                          <a:cs typeface="Arial"/>
                        </a:rPr>
                        <a:t>Academia</a:t>
                      </a:r>
                      <a:endParaRPr sz="1875" b="0" dirty="0">
                        <a:solidFill>
                          <a:srgbClr val="26323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sz="1875" b="0" kern="1200" dirty="0">
                          <a:solidFill>
                            <a:srgbClr val="26323B"/>
                          </a:solidFill>
                          <a:latin typeface="Arial"/>
                          <a:ea typeface="+mn-ea"/>
                          <a:cs typeface="Arial"/>
                        </a:rPr>
                        <a:t>34 of 58 (59%)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875" b="0" kern="1200" dirty="0">
                          <a:solidFill>
                            <a:srgbClr val="26323B"/>
                          </a:solidFill>
                          <a:latin typeface="Arial"/>
                          <a:cs typeface="Arial"/>
                        </a:rPr>
                        <a:t>45 of 58 (78%)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58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75" b="0" dirty="0">
                          <a:solidFill>
                            <a:srgbClr val="26323B"/>
                          </a:solidFill>
                          <a:latin typeface="Arial"/>
                          <a:ea typeface="Arial"/>
                          <a:cs typeface="Arial"/>
                        </a:rPr>
                        <a:t>Industry</a:t>
                      </a:r>
                      <a:endParaRPr sz="1875" b="0" dirty="0">
                        <a:solidFill>
                          <a:srgbClr val="26323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875" b="0" kern="1200" dirty="0">
                          <a:solidFill>
                            <a:srgbClr val="26323B"/>
                          </a:solidFill>
                          <a:latin typeface="Arial"/>
                          <a:ea typeface="+mn-ea"/>
                          <a:cs typeface="Arial"/>
                        </a:rPr>
                        <a:t>211 of 451 (47%)</a:t>
                      </a:r>
                    </a:p>
                  </a:txBody>
                  <a:tcPr marL="9525" marR="9525" marT="9525" marB="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875" b="0" kern="1200" dirty="0">
                          <a:solidFill>
                            <a:srgbClr val="26323B"/>
                          </a:solidFill>
                          <a:latin typeface="Arial"/>
                          <a:cs typeface="Arial"/>
                        </a:rPr>
                        <a:t>279 of 451 (62%)</a:t>
                      </a:r>
                    </a:p>
                  </a:txBody>
                  <a:tcPr marL="9525" marR="9525" marT="9525" marB="0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33C9A6D-9489-CC91-641E-14806E686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5" y="1372542"/>
            <a:ext cx="8997949" cy="299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80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3ED08-D402-3C9B-7B13-663AAD6EA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4">
            <a:extLst>
              <a:ext uri="{FF2B5EF4-FFF2-40B4-BE49-F238E27FC236}">
                <a16:creationId xmlns:a16="http://schemas.microsoft.com/office/drawing/2014/main" id="{D462C508-9DBC-2B15-9C0F-711888A59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143561"/>
            <a:ext cx="8094245" cy="1325563"/>
          </a:xfrm>
        </p:spPr>
        <p:txBody>
          <a:bodyPr/>
          <a:lstStyle/>
          <a:p>
            <a:r>
              <a:rPr lang="en-US" dirty="0"/>
              <a:t>Insight: China’s recent growth appears faster</a:t>
            </a:r>
            <a:endParaRPr lang="en-US" sz="20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93A2395-63ED-112B-0866-403BC41C6E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0822167"/>
              </p:ext>
            </p:extLst>
          </p:nvPr>
        </p:nvGraphicFramePr>
        <p:xfrm>
          <a:off x="990599" y="4538828"/>
          <a:ext cx="7162800" cy="1401510"/>
        </p:xfrm>
        <a:graphic>
          <a:graphicData uri="http://schemas.openxmlformats.org/drawingml/2006/table">
            <a:tbl>
              <a:tblPr/>
              <a:tblGrid>
                <a:gridCol w="208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232804622"/>
                    </a:ext>
                  </a:extLst>
                </a:gridCol>
              </a:tblGrid>
              <a:tr h="32458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75" b="1" dirty="0">
                          <a:solidFill>
                            <a:srgbClr val="264D6B"/>
                          </a:solidFill>
                          <a:latin typeface="Arial"/>
                          <a:ea typeface="Arial"/>
                          <a:cs typeface="Arial"/>
                        </a:rPr>
                        <a:t>Available Data</a:t>
                      </a:r>
                      <a:endParaRPr sz="1875" b="1" dirty="0">
                        <a:solidFill>
                          <a:srgbClr val="264D6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solidFill>
                      <a:srgbClr val="E6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75" b="1" dirty="0">
                          <a:solidFill>
                            <a:srgbClr val="264D6B"/>
                          </a:solidFill>
                          <a:latin typeface="Arial"/>
                          <a:ea typeface="Arial"/>
                          <a:cs typeface="Arial"/>
                        </a:rPr>
                        <a:t>Compute</a:t>
                      </a:r>
                      <a:endParaRPr sz="1875" b="1" dirty="0">
                        <a:solidFill>
                          <a:srgbClr val="264D6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solidFill>
                      <a:srgbClr val="E6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75" b="1" dirty="0">
                          <a:solidFill>
                            <a:srgbClr val="264D6B"/>
                          </a:solidFill>
                          <a:latin typeface="Arial"/>
                          <a:ea typeface="Arial"/>
                          <a:cs typeface="Arial"/>
                        </a:rPr>
                        <a:t>Parameters</a:t>
                      </a:r>
                      <a:endParaRPr sz="1875" b="1" dirty="0">
                        <a:solidFill>
                          <a:srgbClr val="264D6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solidFill>
                      <a:srgbClr val="E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58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75" b="0" dirty="0">
                          <a:solidFill>
                            <a:srgbClr val="26323B"/>
                          </a:solidFill>
                          <a:latin typeface="Arial"/>
                          <a:ea typeface="Arial"/>
                          <a:cs typeface="Arial"/>
                        </a:rPr>
                        <a:t>China</a:t>
                      </a:r>
                      <a:endParaRPr sz="1875" b="0" dirty="0">
                        <a:solidFill>
                          <a:srgbClr val="26323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875" b="0" kern="1200" dirty="0">
                          <a:solidFill>
                            <a:srgbClr val="26323B"/>
                          </a:solidFill>
                          <a:latin typeface="Arial"/>
                          <a:ea typeface="+mn-ea"/>
                          <a:cs typeface="Arial"/>
                        </a:rPr>
                        <a:t>80 of 141 (57%)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875" b="0" kern="1200" dirty="0">
                          <a:solidFill>
                            <a:srgbClr val="26323B"/>
                          </a:solidFill>
                          <a:latin typeface="Arial"/>
                          <a:cs typeface="Arial"/>
                        </a:rPr>
                        <a:t>117 of 141 (83%)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58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75" b="0" dirty="0">
                          <a:solidFill>
                            <a:srgbClr val="26323B"/>
                          </a:solidFill>
                          <a:latin typeface="Arial"/>
                          <a:ea typeface="Arial"/>
                          <a:cs typeface="Arial"/>
                        </a:rPr>
                        <a:t>US</a:t>
                      </a:r>
                      <a:endParaRPr sz="1875" b="0" dirty="0">
                        <a:solidFill>
                          <a:srgbClr val="26323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875" b="0" kern="1200" dirty="0">
                          <a:solidFill>
                            <a:srgbClr val="26323B"/>
                          </a:solidFill>
                          <a:latin typeface="Arial"/>
                          <a:ea typeface="+mn-ea"/>
                          <a:cs typeface="Arial"/>
                        </a:rPr>
                        <a:t>195 of 397 (49%)</a:t>
                      </a:r>
                    </a:p>
                  </a:txBody>
                  <a:tcPr marL="9525" marR="9525" marT="9525" marB="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875" b="0" kern="1200" dirty="0">
                          <a:solidFill>
                            <a:srgbClr val="26323B"/>
                          </a:solidFill>
                          <a:latin typeface="Arial"/>
                          <a:cs typeface="Arial"/>
                        </a:rPr>
                        <a:t>242 of 397 (61%)</a:t>
                      </a:r>
                    </a:p>
                  </a:txBody>
                  <a:tcPr marL="9525" marR="9525" marT="9525" marB="0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2CE6FF12-4FB3-8D2C-6889-137D24EAB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00" y="1118511"/>
            <a:ext cx="8697800" cy="31158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E5F7D0-3A0A-F9A2-A4E5-B03CEC1D6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00" y="1773577"/>
            <a:ext cx="8699939" cy="37468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7B0E208-D83C-FD03-E24D-A1BD6031ED6D}"/>
              </a:ext>
            </a:extLst>
          </p:cNvPr>
          <p:cNvSpPr txBox="1"/>
          <p:nvPr/>
        </p:nvSpPr>
        <p:spPr>
          <a:xfrm>
            <a:off x="346417" y="1930883"/>
            <a:ext cx="851535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Growth comparisons depend on time period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For Compute…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China had </a:t>
            </a:r>
            <a:r>
              <a:rPr lang="en-US" sz="2200" i="1" u="sng" dirty="0">
                <a:solidFill>
                  <a:schemeClr val="bg1"/>
                </a:solidFill>
              </a:rPr>
              <a:t>statistically</a:t>
            </a:r>
            <a:r>
              <a:rPr lang="en-US" sz="2200" dirty="0">
                <a:solidFill>
                  <a:schemeClr val="bg1"/>
                </a:solidFill>
              </a:rPr>
              <a:t> faster growth for 2010-2026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China had faster growth for 2020-2026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US had faster growth for 2022-2026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For Parameters…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China had faster growth in every tested period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i="1" u="sng" dirty="0">
                <a:solidFill>
                  <a:schemeClr val="bg1"/>
                </a:solidFill>
              </a:rPr>
              <a:t>Statistically significant </a:t>
            </a:r>
            <a:r>
              <a:rPr lang="en-US" sz="2200" dirty="0">
                <a:solidFill>
                  <a:schemeClr val="bg1"/>
                </a:solidFill>
              </a:rPr>
              <a:t>for start years 2010, 2018, 2022</a:t>
            </a:r>
          </a:p>
          <a:p>
            <a:endParaRPr lang="en-US" sz="2200" b="1" dirty="0">
              <a:solidFill>
                <a:schemeClr val="bg1"/>
              </a:solidFill>
            </a:endParaRPr>
          </a:p>
          <a:p>
            <a:r>
              <a:rPr lang="en-US" sz="2200" b="1" dirty="0">
                <a:solidFill>
                  <a:schemeClr val="bg1"/>
                </a:solidFill>
              </a:rPr>
              <a:t>Bottom-line: Unable to assert if US or China is growing faster</a:t>
            </a:r>
          </a:p>
        </p:txBody>
      </p:sp>
    </p:spTree>
    <p:extLst>
      <p:ext uri="{BB962C8B-B14F-4D97-AF65-F5344CB8AC3E}">
        <p14:creationId xmlns:p14="http://schemas.microsoft.com/office/powerpoint/2010/main" val="3261246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E46E54B-39F3-E272-36D6-B3F8B4FF9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2082157"/>
            <a:ext cx="7886700" cy="3888875"/>
          </a:xfrm>
        </p:spPr>
        <p:txBody>
          <a:bodyPr/>
          <a:lstStyle/>
          <a:p>
            <a:r>
              <a:rPr lang="en-US" dirty="0"/>
              <a:t>Data range 1950-2026, most published since 2020</a:t>
            </a:r>
          </a:p>
          <a:p>
            <a:r>
              <a:rPr lang="en-US" dirty="0"/>
              <a:t>Category fields allowed multiple selections</a:t>
            </a:r>
          </a:p>
          <a:p>
            <a:pPr lvl="1"/>
            <a:r>
              <a:rPr lang="en-US" dirty="0"/>
              <a:t>Removed repeated values and created summary level groupings</a:t>
            </a:r>
          </a:p>
          <a:p>
            <a:pPr lvl="1"/>
            <a:r>
              <a:rPr lang="en-US" dirty="0"/>
              <a:t>Identified categories with most models combined all others</a:t>
            </a:r>
          </a:p>
          <a:p>
            <a:pPr lvl="1"/>
            <a:r>
              <a:rPr lang="en-US" dirty="0"/>
              <a:t>US + any other country as US, same for China, US + China separate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4F1B29C7-C9A6-83EB-398C-49B16766F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143561"/>
            <a:ext cx="8094245" cy="1325563"/>
          </a:xfrm>
        </p:spPr>
        <p:txBody>
          <a:bodyPr/>
          <a:lstStyle/>
          <a:p>
            <a:r>
              <a:rPr lang="en-US" dirty="0"/>
              <a:t>Dataset Overview: </a:t>
            </a:r>
            <a:br>
              <a:rPr lang="en-US" dirty="0"/>
            </a:br>
            <a:r>
              <a:rPr lang="en-US" sz="2000" dirty="0"/>
              <a:t>Epoch AI’s notable models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11E2BC-C445-971D-4838-236983EC7A0C}"/>
              </a:ext>
            </a:extLst>
          </p:cNvPr>
          <p:cNvSpPr/>
          <p:nvPr/>
        </p:nvSpPr>
        <p:spPr>
          <a:xfrm>
            <a:off x="628649" y="1280796"/>
            <a:ext cx="7886701" cy="97524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65EEEC-2E90-3B9B-2DA6-F37F94646006}"/>
              </a:ext>
            </a:extLst>
          </p:cNvPr>
          <p:cNvSpPr txBox="1"/>
          <p:nvPr/>
        </p:nvSpPr>
        <p:spPr>
          <a:xfrm>
            <a:off x="1711764" y="1358311"/>
            <a:ext cx="13656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Large-Scale</a:t>
            </a:r>
          </a:p>
          <a:p>
            <a:pPr algn="ctr"/>
            <a:r>
              <a:rPr lang="en-US" dirty="0"/>
              <a:t>(532)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594C35-BA68-2BCB-E9D9-830980F20E56}"/>
              </a:ext>
            </a:extLst>
          </p:cNvPr>
          <p:cNvSpPr txBox="1"/>
          <p:nvPr/>
        </p:nvSpPr>
        <p:spPr>
          <a:xfrm>
            <a:off x="436492" y="1338302"/>
            <a:ext cx="1275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Frontier (138)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719079-E533-F101-15F0-7D639F2AA43E}"/>
              </a:ext>
            </a:extLst>
          </p:cNvPr>
          <p:cNvSpPr txBox="1"/>
          <p:nvPr/>
        </p:nvSpPr>
        <p:spPr>
          <a:xfrm>
            <a:off x="3176842" y="1370920"/>
            <a:ext cx="9836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Notable</a:t>
            </a:r>
          </a:p>
          <a:p>
            <a:pPr algn="ctr"/>
            <a:r>
              <a:rPr lang="en-US" dirty="0"/>
              <a:t>(1,078)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D60DEE-8D9A-03C9-AC45-6FE5B333EDB8}"/>
              </a:ext>
            </a:extLst>
          </p:cNvPr>
          <p:cNvSpPr txBox="1"/>
          <p:nvPr/>
        </p:nvSpPr>
        <p:spPr>
          <a:xfrm>
            <a:off x="7442417" y="1370920"/>
            <a:ext cx="12650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 Models </a:t>
            </a:r>
          </a:p>
          <a:p>
            <a:pPr algn="ctr"/>
            <a:r>
              <a:rPr lang="en-US" dirty="0"/>
              <a:t>(3620)</a:t>
            </a:r>
          </a:p>
        </p:txBody>
      </p:sp>
      <p:sp>
        <p:nvSpPr>
          <p:cNvPr id="17" name="Star: 5 Points 16">
            <a:extLst>
              <a:ext uri="{FF2B5EF4-FFF2-40B4-BE49-F238E27FC236}">
                <a16:creationId xmlns:a16="http://schemas.microsoft.com/office/drawing/2014/main" id="{B2A456AC-A31A-474D-8568-3E67220F9390}"/>
              </a:ext>
            </a:extLst>
          </p:cNvPr>
          <p:cNvSpPr/>
          <p:nvPr/>
        </p:nvSpPr>
        <p:spPr>
          <a:xfrm>
            <a:off x="3509925" y="1093163"/>
            <a:ext cx="317500" cy="299172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B2D532CE-2E9C-48E4-27B4-765B1B6886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6408074"/>
              </p:ext>
            </p:extLst>
          </p:nvPr>
        </p:nvGraphicFramePr>
        <p:xfrm>
          <a:off x="753411" y="3828920"/>
          <a:ext cx="7321551" cy="1748284"/>
        </p:xfrm>
        <a:graphic>
          <a:graphicData uri="http://schemas.openxmlformats.org/drawingml/2006/table">
            <a:tbl>
              <a:tblPr/>
              <a:tblGrid>
                <a:gridCol w="27497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2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8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303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1725" b="1" dirty="0">
                          <a:solidFill>
                            <a:srgbClr val="264D6B"/>
                          </a:solidFill>
                          <a:latin typeface="Arial"/>
                          <a:ea typeface="Arial"/>
                          <a:cs typeface="Arial"/>
                        </a:rPr>
                        <a:t>Field</a:t>
                      </a:r>
                    </a:p>
                  </a:txBody>
                  <a:tcPr>
                    <a:solidFill>
                      <a:srgbClr val="E6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725" b="1" dirty="0">
                          <a:solidFill>
                            <a:srgbClr val="264D6B"/>
                          </a:solidFill>
                          <a:latin typeface="Arial"/>
                          <a:ea typeface="Arial"/>
                          <a:cs typeface="Arial"/>
                        </a:rPr>
                        <a:t>Unique</a:t>
                      </a:r>
                      <a:r>
                        <a:rPr sz="1725" b="1" dirty="0">
                          <a:solidFill>
                            <a:srgbClr val="264D6B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1725" b="1" dirty="0">
                          <a:solidFill>
                            <a:srgbClr val="264D6B"/>
                          </a:solidFill>
                          <a:latin typeface="Arial"/>
                          <a:ea typeface="Arial"/>
                          <a:cs typeface="Arial"/>
                        </a:rPr>
                        <a:t>V</a:t>
                      </a:r>
                      <a:r>
                        <a:rPr sz="1725" b="1" dirty="0">
                          <a:solidFill>
                            <a:srgbClr val="264D6B"/>
                          </a:solidFill>
                          <a:latin typeface="Arial"/>
                          <a:ea typeface="Arial"/>
                          <a:cs typeface="Arial"/>
                        </a:rPr>
                        <a:t>alues</a:t>
                      </a:r>
                    </a:p>
                  </a:txBody>
                  <a:tcPr>
                    <a:solidFill>
                      <a:srgbClr val="E6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725" b="1" dirty="0">
                          <a:solidFill>
                            <a:srgbClr val="264D6B"/>
                          </a:solidFill>
                          <a:latin typeface="Arial"/>
                          <a:ea typeface="Arial"/>
                          <a:cs typeface="Arial"/>
                        </a:rPr>
                        <a:t>Remove Repeats</a:t>
                      </a:r>
                      <a:endParaRPr sz="1725" b="1" dirty="0">
                        <a:solidFill>
                          <a:srgbClr val="264D6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solidFill>
                      <a:srgbClr val="E6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725" b="1" dirty="0">
                          <a:solidFill>
                            <a:srgbClr val="264D6B"/>
                          </a:solidFill>
                          <a:latin typeface="Arial"/>
                          <a:ea typeface="Arial"/>
                          <a:cs typeface="Arial"/>
                        </a:rPr>
                        <a:t>Final</a:t>
                      </a:r>
                      <a:endParaRPr sz="1725" b="1" dirty="0">
                        <a:solidFill>
                          <a:srgbClr val="264D6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solidFill>
                      <a:srgbClr val="E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03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1725" b="0" dirty="0">
                          <a:solidFill>
                            <a:srgbClr val="26323B"/>
                          </a:solidFill>
                          <a:latin typeface="Arial"/>
                          <a:ea typeface="Arial"/>
                          <a:cs typeface="Arial"/>
                        </a:rPr>
                        <a:t>Organization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1725" b="0" dirty="0">
                          <a:solidFill>
                            <a:srgbClr val="26323B"/>
                          </a:solidFill>
                          <a:latin typeface="Arial"/>
                          <a:ea typeface="Arial"/>
                          <a:cs typeface="Arial"/>
                        </a:rPr>
                        <a:t>443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1725" b="0" dirty="0">
                          <a:solidFill>
                            <a:srgbClr val="26323B"/>
                          </a:solidFill>
                          <a:latin typeface="Arial"/>
                          <a:ea typeface="Arial"/>
                          <a:cs typeface="Arial"/>
                        </a:rPr>
                        <a:t>Not applied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725" b="0" dirty="0">
                          <a:solidFill>
                            <a:srgbClr val="26323B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endParaRPr sz="1725" b="0" dirty="0">
                        <a:solidFill>
                          <a:srgbClr val="26323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03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1725" b="0" dirty="0">
                          <a:solidFill>
                            <a:srgbClr val="26323B"/>
                          </a:solidFill>
                          <a:latin typeface="Arial"/>
                          <a:ea typeface="Arial"/>
                          <a:cs typeface="Arial"/>
                        </a:rPr>
                        <a:t>Organization </a:t>
                      </a:r>
                      <a:r>
                        <a:rPr lang="en-US" sz="1725" b="0" dirty="0">
                          <a:solidFill>
                            <a:srgbClr val="26323B"/>
                          </a:solidFill>
                          <a:latin typeface="Arial"/>
                          <a:ea typeface="Arial"/>
                          <a:cs typeface="Arial"/>
                        </a:rPr>
                        <a:t>Category</a:t>
                      </a:r>
                      <a:endParaRPr sz="1725" b="0" dirty="0">
                        <a:solidFill>
                          <a:srgbClr val="26323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1725" b="0" dirty="0">
                          <a:solidFill>
                            <a:srgbClr val="26323B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1725" b="0" dirty="0">
                          <a:solidFill>
                            <a:srgbClr val="26323B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1725" b="0" dirty="0">
                          <a:solidFill>
                            <a:srgbClr val="26323B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03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1725" b="0" dirty="0">
                          <a:solidFill>
                            <a:srgbClr val="26323B"/>
                          </a:solidFill>
                          <a:latin typeface="Arial"/>
                          <a:ea typeface="Arial"/>
                          <a:cs typeface="Arial"/>
                        </a:rPr>
                        <a:t>Country</a:t>
                      </a:r>
                      <a:r>
                        <a:rPr lang="en-US" sz="1725" b="0" dirty="0">
                          <a:solidFill>
                            <a:srgbClr val="26323B"/>
                          </a:solidFill>
                          <a:latin typeface="Arial"/>
                          <a:ea typeface="Arial"/>
                          <a:cs typeface="Arial"/>
                        </a:rPr>
                        <a:t> of Organization</a:t>
                      </a:r>
                      <a:endParaRPr sz="1725" b="0" dirty="0">
                        <a:solidFill>
                          <a:srgbClr val="26323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1725" b="0">
                          <a:solidFill>
                            <a:srgbClr val="26323B"/>
                          </a:solidFill>
                          <a:latin typeface="Arial"/>
                          <a:ea typeface="Arial"/>
                          <a:cs typeface="Arial"/>
                        </a:rPr>
                        <a:t>149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1725" b="0" dirty="0">
                          <a:solidFill>
                            <a:srgbClr val="26323B"/>
                          </a:solidFill>
                          <a:latin typeface="Arial"/>
                          <a:ea typeface="Arial"/>
                          <a:cs typeface="Arial"/>
                        </a:rPr>
                        <a:t>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1725" b="0" dirty="0">
                          <a:solidFill>
                            <a:srgbClr val="26323B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9914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A5465-84F2-EE16-AC47-52AAE1CBC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4">
            <a:extLst>
              <a:ext uri="{FF2B5EF4-FFF2-40B4-BE49-F238E27FC236}">
                <a16:creationId xmlns:a16="http://schemas.microsoft.com/office/drawing/2014/main" id="{9FBB89CC-2323-689E-0CC4-343891EC2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143561"/>
            <a:ext cx="8094245" cy="1325563"/>
          </a:xfrm>
        </p:spPr>
        <p:txBody>
          <a:bodyPr/>
          <a:lstStyle/>
          <a:p>
            <a:r>
              <a:rPr lang="en-US" dirty="0"/>
              <a:t>Limitations:</a:t>
            </a:r>
            <a:endParaRPr lang="en-US" sz="2000" dirty="0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5400F020-B7AF-F6B9-DDAC-C25134185C88}"/>
              </a:ext>
            </a:extLst>
          </p:cNvPr>
          <p:cNvSpPr txBox="1">
            <a:spLocks/>
          </p:cNvSpPr>
          <p:nvPr/>
        </p:nvSpPr>
        <p:spPr>
          <a:xfrm>
            <a:off x="628651" y="1469124"/>
            <a:ext cx="7886700" cy="44490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 availability / Incomplete reporting is biggest limitation</a:t>
            </a:r>
          </a:p>
          <a:p>
            <a:pPr lvl="1"/>
            <a:r>
              <a:rPr lang="en-US" dirty="0"/>
              <a:t>Missing data may introduce selection bias</a:t>
            </a:r>
          </a:p>
          <a:p>
            <a:pPr lvl="1"/>
            <a:r>
              <a:rPr lang="en-US" dirty="0"/>
              <a:t>Available models may not be representative of missing data</a:t>
            </a:r>
          </a:p>
          <a:p>
            <a:pPr lvl="1"/>
            <a:r>
              <a:rPr lang="en-US" dirty="0"/>
              <a:t>Small sample size reduces how accurately data represents a category</a:t>
            </a:r>
          </a:p>
          <a:p>
            <a:r>
              <a:rPr lang="en-US" dirty="0"/>
              <a:t>Epoch notes some values may be estimates, analysis did not consider ‘confidence’ rating</a:t>
            </a:r>
          </a:p>
          <a:p>
            <a:r>
              <a:rPr lang="en-US" dirty="0"/>
              <a:t>Grouping decisions limit detailed comparisons and affect ranking</a:t>
            </a:r>
          </a:p>
          <a:p>
            <a:r>
              <a:rPr lang="en-US" dirty="0"/>
              <a:t>Observations based on fitted trends without complete statistical testing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6F4A5A-BF0E-459D-AB5B-EF4959E626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00" t="92973" r="12500"/>
          <a:stretch>
            <a:fillRect/>
          </a:stretch>
        </p:blipFill>
        <p:spPr>
          <a:xfrm>
            <a:off x="0" y="6376086"/>
            <a:ext cx="9144000" cy="4819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74C9F2-1DC4-4121-69C3-AA4329B9FDA6}"/>
              </a:ext>
            </a:extLst>
          </p:cNvPr>
          <p:cNvSpPr txBox="1"/>
          <p:nvPr/>
        </p:nvSpPr>
        <p:spPr>
          <a:xfrm>
            <a:off x="73023" y="6421307"/>
            <a:ext cx="8997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Significant Limitations raise doubt on categorical comparisons of growth rate</a:t>
            </a:r>
          </a:p>
        </p:txBody>
      </p:sp>
    </p:spTree>
    <p:extLst>
      <p:ext uri="{BB962C8B-B14F-4D97-AF65-F5344CB8AC3E}">
        <p14:creationId xmlns:p14="http://schemas.microsoft.com/office/powerpoint/2010/main" val="2994645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6A75A-2B1A-8410-F1E3-5EA44E389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4">
            <a:extLst>
              <a:ext uri="{FF2B5EF4-FFF2-40B4-BE49-F238E27FC236}">
                <a16:creationId xmlns:a16="http://schemas.microsoft.com/office/drawing/2014/main" id="{3073BB64-C65F-9093-C27F-59000518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143561"/>
            <a:ext cx="8094245" cy="1325563"/>
          </a:xfrm>
        </p:spPr>
        <p:txBody>
          <a:bodyPr/>
          <a:lstStyle/>
          <a:p>
            <a:r>
              <a:rPr lang="en-US" dirty="0"/>
              <a:t>Conclusions and Next Steps</a:t>
            </a:r>
            <a:endParaRPr lang="en-US" sz="2000" dirty="0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DDF491F0-B5B6-AF51-A120-BFB7A831A2A6}"/>
              </a:ext>
            </a:extLst>
          </p:cNvPr>
          <p:cNvSpPr txBox="1">
            <a:spLocks/>
          </p:cNvSpPr>
          <p:nvPr/>
        </p:nvSpPr>
        <p:spPr>
          <a:xfrm>
            <a:off x="628651" y="1469123"/>
            <a:ext cx="7886700" cy="4681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Conclusions</a:t>
            </a:r>
          </a:p>
          <a:p>
            <a:pPr lvl="1"/>
            <a:r>
              <a:rPr lang="en-US" sz="2100" dirty="0"/>
              <a:t>US and China go back and forth on compute growth rate</a:t>
            </a:r>
          </a:p>
          <a:p>
            <a:pPr lvl="1"/>
            <a:r>
              <a:rPr lang="en-US" sz="2100" dirty="0"/>
              <a:t>China has faster parameter growth rate in all tested years</a:t>
            </a:r>
          </a:p>
          <a:p>
            <a:pPr lvl="1"/>
            <a:r>
              <a:rPr lang="en-US" sz="2100" dirty="0"/>
              <a:t>Meta stands out in rate of increase</a:t>
            </a:r>
          </a:p>
          <a:p>
            <a:pPr lvl="1"/>
            <a:r>
              <a:rPr lang="en-US" sz="2100" dirty="0"/>
              <a:t>Industry retains higher levels over Academia</a:t>
            </a:r>
          </a:p>
          <a:p>
            <a:pPr lvl="1"/>
            <a:r>
              <a:rPr lang="en-US" sz="2100" dirty="0"/>
              <a:t>Data availability rates cast doubt on nearly all results</a:t>
            </a:r>
          </a:p>
          <a:p>
            <a:endParaRPr lang="en-US" dirty="0"/>
          </a:p>
          <a:p>
            <a:r>
              <a:rPr lang="en-US" dirty="0"/>
              <a:t>Next Steps</a:t>
            </a:r>
          </a:p>
          <a:p>
            <a:pPr lvl="1"/>
            <a:r>
              <a:rPr lang="en-US" sz="2100" dirty="0"/>
              <a:t>Consider Confidence of available data and </a:t>
            </a:r>
            <a:r>
              <a:rPr lang="en-US" sz="2100"/>
              <a:t>statistical testing</a:t>
            </a:r>
            <a:endParaRPr lang="en-US" sz="2100" dirty="0"/>
          </a:p>
          <a:p>
            <a:pPr lvl="1"/>
            <a:r>
              <a:rPr lang="en-US" sz="2100" dirty="0"/>
              <a:t>My next Question: Do larger inputs improve performance</a:t>
            </a:r>
          </a:p>
          <a:p>
            <a:pPr lvl="2"/>
            <a:r>
              <a:rPr lang="en-US" sz="2100" dirty="0"/>
              <a:t>Pull in Epoch benchmark data</a:t>
            </a:r>
          </a:p>
          <a:p>
            <a:pPr lvl="2"/>
            <a:r>
              <a:rPr lang="en-US" sz="2100" dirty="0"/>
              <a:t>If correlation between data inputs and benchmarks,</a:t>
            </a:r>
          </a:p>
          <a:p>
            <a:pPr lvl="2"/>
            <a:r>
              <a:rPr lang="en-US" sz="2100" dirty="0"/>
              <a:t>Then input growth </a:t>
            </a:r>
            <a:r>
              <a:rPr lang="en-US" sz="2100" dirty="0">
                <a:sym typeface="Wingdings" panose="05000000000000000000" pitchFamily="2" charset="2"/>
              </a:rPr>
              <a:t> predict next best models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383884-DE3A-43F8-5DFA-14EB444C03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00" t="92973" r="12500"/>
          <a:stretch>
            <a:fillRect/>
          </a:stretch>
        </p:blipFill>
        <p:spPr>
          <a:xfrm>
            <a:off x="0" y="6376086"/>
            <a:ext cx="9144000" cy="4819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2CA222-3697-7C45-BA1F-5E0902A28D76}"/>
              </a:ext>
            </a:extLst>
          </p:cNvPr>
          <p:cNvSpPr txBox="1"/>
          <p:nvPr/>
        </p:nvSpPr>
        <p:spPr>
          <a:xfrm>
            <a:off x="73023" y="6421307"/>
            <a:ext cx="8997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Training inputs are increasing… faster for some … but does it improve performance?</a:t>
            </a:r>
          </a:p>
        </p:txBody>
      </p:sp>
    </p:spTree>
    <p:extLst>
      <p:ext uri="{BB962C8B-B14F-4D97-AF65-F5344CB8AC3E}">
        <p14:creationId xmlns:p14="http://schemas.microsoft.com/office/powerpoint/2010/main" val="2460118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2397</TotalTime>
  <Words>743</Words>
  <Application>Microsoft Office PowerPoint</Application>
  <PresentationFormat>On-screen Show (4:3)</PresentationFormat>
  <Paragraphs>159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Wingdings</vt:lpstr>
      <vt:lpstr>Office Theme</vt:lpstr>
      <vt:lpstr>PowerPoint Presentation</vt:lpstr>
      <vt:lpstr>Fact:  AI training inputs such as compute and parameters have increased overtime.</vt:lpstr>
      <vt:lpstr>Question:  Does the timing and rate of increase differ by category?</vt:lpstr>
      <vt:lpstr>Insight: Meta’s rate of increase stood out</vt:lpstr>
      <vt:lpstr>Insight: Industry input levels above Academia</vt:lpstr>
      <vt:lpstr>Insight: China’s recent growth appears faster</vt:lpstr>
      <vt:lpstr>Dataset Overview:  Epoch AI’s notable models</vt:lpstr>
      <vt:lpstr>Limitations:</vt:lpstr>
      <vt:lpstr>Conclusions and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Kara Taylor</dc:creator>
  <cp:lastModifiedBy>Kara Taylor</cp:lastModifiedBy>
  <cp:revision>1</cp:revision>
  <dcterms:created xsi:type="dcterms:W3CDTF">2026-10-13T20:02:21Z</dcterms:created>
  <dcterms:modified xsi:type="dcterms:W3CDTF">2026-10-15T13:13:42Z</dcterms:modified>
</cp:coreProperties>
</file>